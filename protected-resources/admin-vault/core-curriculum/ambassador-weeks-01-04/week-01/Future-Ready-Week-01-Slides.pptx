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D1B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1188720"/>
            <a:ext cx="1069848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200" b="1">
                <a:solidFill>
                  <a:srgbClr val="FFFFFF"/>
                </a:solidFill>
              </a:defRPr>
            </a:pPr>
            <a:r>
              <a:t>Week 1: This Is Where My Future Begins</a:t>
            </a:r>
          </a:p>
          <a:p>
            <a:pPr algn="ctr">
              <a:defRPr sz="1700">
                <a:solidFill>
                  <a:srgbClr val="F2B705"/>
                </a:solidFill>
              </a:defRPr>
            </a:pPr>
            <a:r>
              <a:t>Who am I becoming?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309360"/>
            <a:ext cx="109728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800">
                <a:solidFill>
                  <a:srgbClr val="D2D7E1"/>
                </a:solidFill>
              </a:defRPr>
            </a:pPr>
            <a:r>
              <a:t>Future Ready™ © 2026 Jaime Lane | Licensed to Ambassador Christian School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77240"/>
          </a:xfrm>
          <a:prstGeom prst="rect">
            <a:avLst/>
          </a:prstGeom>
          <a:solidFill>
            <a:srgbClr val="0D1B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164592"/>
            <a:ext cx="1097280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500" b="1">
                <a:solidFill>
                  <a:srgbClr val="FFFFFF"/>
                </a:solidFill>
              </a:defRPr>
            </a:pPr>
            <a:r>
              <a:t>Why This Week Matters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40080" y="1051560"/>
            <a:ext cx="3108960" cy="502920"/>
          </a:xfrm>
          <a:prstGeom prst="roundRect">
            <a:avLst/>
          </a:prstGeom>
          <a:solidFill>
            <a:srgbClr val="F2B70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b="1" sz="1300">
                <a:solidFill>
                  <a:srgbClr val="0D1B3D"/>
                </a:solidFill>
              </a:defRPr>
            </a:pPr>
            <a:r>
              <a:t>START HERE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1737360"/>
            <a:ext cx="1060704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000">
                <a:solidFill>
                  <a:srgbClr val="0D1B3D"/>
                </a:solidFill>
              </a:defRPr>
            </a:pPr>
            <a:r>
              <a:t>You are building evidence, not just completing assignments.</a:t>
            </a:r>
          </a:p>
          <a:p>
            <a:pPr>
              <a:spcAft>
                <a:spcPts val="1200"/>
              </a:spcAft>
              <a:defRPr sz="2000">
                <a:solidFill>
                  <a:srgbClr val="0D1B3D"/>
                </a:solidFill>
              </a:defRPr>
            </a:pPr>
            <a:r>
              <a:t>Every activity connects to Semester 2 internships.</a:t>
            </a:r>
          </a:p>
          <a:p>
            <a:pPr>
              <a:spcAft>
                <a:spcPts val="1200"/>
              </a:spcAft>
              <a:defRPr sz="2000">
                <a:solidFill>
                  <a:srgbClr val="0D1B3D"/>
                </a:solidFill>
              </a:defRPr>
            </a:pPr>
            <a:r>
              <a:t>Practice creates confidence. Feedback creates growth.</a:t>
            </a:r>
          </a:p>
          <a:p>
            <a:pPr>
              <a:spcAft>
                <a:spcPts val="1200"/>
              </a:spcAft>
              <a:defRPr sz="2000">
                <a:solidFill>
                  <a:srgbClr val="0D1B3D"/>
                </a:solidFill>
              </a:defRPr>
            </a:pPr>
            <a:r>
              <a:t>Your portfolio will show what you can do.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94360" y="6446520"/>
            <a:ext cx="109728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800">
                <a:solidFill>
                  <a:srgbClr val="6B7280"/>
                </a:solidFill>
              </a:defRPr>
            </a:pPr>
            <a:r>
              <a:t>Discover Purpose. Build Skills. Launch Your Future.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77240"/>
          </a:xfrm>
          <a:prstGeom prst="rect">
            <a:avLst/>
          </a:prstGeom>
          <a:solidFill>
            <a:srgbClr val="0D1B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164592"/>
            <a:ext cx="1097280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500" b="1">
                <a:solidFill>
                  <a:srgbClr val="FFFFFF"/>
                </a:solidFill>
              </a:defRPr>
            </a:pPr>
            <a:r>
              <a:t>Week Outcomes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40080" y="1051560"/>
            <a:ext cx="3108960" cy="502920"/>
          </a:xfrm>
          <a:prstGeom prst="roundRect">
            <a:avLst/>
          </a:prstGeom>
          <a:solidFill>
            <a:srgbClr val="F2B70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b="1" sz="1300">
                <a:solidFill>
                  <a:srgbClr val="0D1B3D"/>
                </a:solidFill>
              </a:defRPr>
            </a:pPr>
            <a:r>
              <a:t>OUTCOMES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1737360"/>
            <a:ext cx="1060704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000">
                <a:solidFill>
                  <a:srgbClr val="0D1B3D"/>
                </a:solidFill>
              </a:defRPr>
            </a:pPr>
            <a:r>
              <a:t>Build: Personal Foundation Profile and My Story Timeline</a:t>
            </a:r>
          </a:p>
          <a:p>
            <a:pPr>
              <a:spcAft>
                <a:spcPts val="1200"/>
              </a:spcAft>
              <a:defRPr sz="2000">
                <a:solidFill>
                  <a:srgbClr val="0D1B3D"/>
                </a:solidFill>
              </a:defRPr>
            </a:pPr>
            <a:r>
              <a:t>Earn: Future Ready™ Journey Starter</a:t>
            </a:r>
          </a:p>
          <a:p>
            <a:pPr>
              <a:spcAft>
                <a:spcPts val="1200"/>
              </a:spcAft>
              <a:defRPr sz="2000">
                <a:solidFill>
                  <a:srgbClr val="0D1B3D"/>
                </a:solidFill>
              </a:defRPr>
            </a:pPr>
            <a:r>
              <a:t>Practice communication, teamwork, adaptability, and professional follow-through.</a:t>
            </a:r>
          </a:p>
          <a:p>
            <a:pPr>
              <a:spcAft>
                <a:spcPts val="1200"/>
              </a:spcAft>
              <a:defRPr sz="2000">
                <a:solidFill>
                  <a:srgbClr val="0D1B3D"/>
                </a:solidFill>
              </a:defRPr>
            </a:pPr>
            <a:r>
              <a:t>Use workplace technology responsibly.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94360" y="6446520"/>
            <a:ext cx="109728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800">
                <a:solidFill>
                  <a:srgbClr val="6B7280"/>
                </a:solidFill>
              </a:defRPr>
            </a:pPr>
            <a:r>
              <a:t>Discover Purpose. Build Skills. Launch Your Future.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77240"/>
          </a:xfrm>
          <a:prstGeom prst="rect">
            <a:avLst/>
          </a:prstGeom>
          <a:solidFill>
            <a:srgbClr val="0D1B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164592"/>
            <a:ext cx="1097280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500" b="1">
                <a:solidFill>
                  <a:srgbClr val="FFFFFF"/>
                </a:solidFill>
              </a:defRPr>
            </a:pPr>
            <a:r>
              <a:t>Community and Industry Connection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40080" y="1051560"/>
            <a:ext cx="3108960" cy="502920"/>
          </a:xfrm>
          <a:prstGeom prst="roundRect">
            <a:avLst/>
          </a:prstGeom>
          <a:solidFill>
            <a:srgbClr val="F2B70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b="1" sz="1300">
                <a:solidFill>
                  <a:srgbClr val="0D1B3D"/>
                </a:solidFill>
              </a:defRPr>
            </a:pPr>
            <a:r>
              <a:t>SPEAKER / TOUR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1737360"/>
            <a:ext cx="1060704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000">
                <a:solidFill>
                  <a:srgbClr val="0D1B3D"/>
                </a:solidFill>
              </a:defRPr>
            </a:pPr>
            <a:r>
              <a:t>Entrepreneur, coach, veteran, healthcare professional, manufacturing leader, nonprofit founder, or community leader with a candid story about resilience and an unexpected career path.</a:t>
            </a:r>
          </a:p>
          <a:p>
            <a:pPr>
              <a:spcAft>
                <a:spcPts val="1200"/>
              </a:spcAft>
              <a:defRPr sz="2000">
                <a:solidFill>
                  <a:srgbClr val="0D1B3D"/>
                </a:solidFill>
              </a:defRPr>
            </a:pPr>
            <a:r>
              <a:t>Career pathways across healthcare, manufacturing, business, service, and skilled trades.</a:t>
            </a:r>
          </a:p>
          <a:p>
            <a:pPr>
              <a:spcAft>
                <a:spcPts val="1200"/>
              </a:spcAft>
              <a:defRPr sz="2000">
                <a:solidFill>
                  <a:srgbClr val="0D1B3D"/>
                </a:solidFill>
              </a:defRPr>
            </a:pPr>
            <a:r>
              <a:t>Prepare thoughtful questions. Log the interaction. Send a personalized thank-you.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94360" y="6446520"/>
            <a:ext cx="109728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800">
                <a:solidFill>
                  <a:srgbClr val="6B7280"/>
                </a:solidFill>
              </a:defRPr>
            </a:pPr>
            <a:r>
              <a:t>Discover Purpose. Build Skills. Launch Your Future.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77240"/>
          </a:xfrm>
          <a:prstGeom prst="rect">
            <a:avLst/>
          </a:prstGeom>
          <a:solidFill>
            <a:srgbClr val="0D1B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164592"/>
            <a:ext cx="1097280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500" b="1">
                <a:solidFill>
                  <a:srgbClr val="FFFFFF"/>
                </a:solidFill>
              </a:defRPr>
            </a:pPr>
            <a:r>
              <a:t>Day 1: My Future Starts Here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40080" y="1051560"/>
            <a:ext cx="3108960" cy="502920"/>
          </a:xfrm>
          <a:prstGeom prst="roundRect">
            <a:avLst/>
          </a:prstGeom>
          <a:solidFill>
            <a:srgbClr val="F2B70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b="1" sz="1300">
                <a:solidFill>
                  <a:srgbClr val="0D1B3D"/>
                </a:solidFill>
              </a:defRPr>
            </a:pPr>
            <a:r>
              <a:t>DAY 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1737360"/>
            <a:ext cx="1060704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000">
                <a:solidFill>
                  <a:srgbClr val="0D1B3D"/>
                </a:solidFill>
              </a:defRPr>
            </a:pPr>
            <a:r>
              <a:t>Launch the program, connect Semester 1 to internships, and establish classroom norms.</a:t>
            </a:r>
          </a:p>
          <a:p>
            <a:pPr>
              <a:spcAft>
                <a:spcPts val="1200"/>
              </a:spcAft>
              <a:defRPr sz="2000">
                <a:solidFill>
                  <a:srgbClr val="0D1B3D"/>
                </a:solidFill>
              </a:defRPr>
            </a:pPr>
            <a:r>
              <a:t>Four Corners of the Future and a five-word team definition of Future Ready™.</a:t>
            </a:r>
          </a:p>
          <a:p>
            <a:pPr>
              <a:spcAft>
                <a:spcPts val="1200"/>
              </a:spcAft>
              <a:defRPr sz="2000">
                <a:solidFill>
                  <a:srgbClr val="0D1B3D"/>
                </a:solidFill>
              </a:defRPr>
            </a:pPr>
            <a:r>
              <a:t>Debrief: What evidence did you create? How will this matter during an internship?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94360" y="6446520"/>
            <a:ext cx="109728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800">
                <a:solidFill>
                  <a:srgbClr val="6B7280"/>
                </a:solidFill>
              </a:defRPr>
            </a:pPr>
            <a:r>
              <a:t>Discover Purpose. Build Skills. Launch Your Future.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77240"/>
          </a:xfrm>
          <a:prstGeom prst="rect">
            <a:avLst/>
          </a:prstGeom>
          <a:solidFill>
            <a:srgbClr val="0D1B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164592"/>
            <a:ext cx="1097280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500" b="1">
                <a:solidFill>
                  <a:srgbClr val="FFFFFF"/>
                </a:solidFill>
              </a:defRPr>
            </a:pPr>
            <a:r>
              <a:t>Day 2: My Story Matters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40080" y="1051560"/>
            <a:ext cx="3108960" cy="502920"/>
          </a:xfrm>
          <a:prstGeom prst="roundRect">
            <a:avLst/>
          </a:prstGeom>
          <a:solidFill>
            <a:srgbClr val="F2B70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b="1" sz="1300">
                <a:solidFill>
                  <a:srgbClr val="0D1B3D"/>
                </a:solidFill>
              </a:defRPr>
            </a:pPr>
            <a:r>
              <a:t>DAY 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1737360"/>
            <a:ext cx="1060704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000">
                <a:solidFill>
                  <a:srgbClr val="0D1B3D"/>
                </a:solidFill>
              </a:defRPr>
            </a:pPr>
            <a:r>
              <a:t>Identify experiences that shaped growth and transferable skills.</a:t>
            </a:r>
          </a:p>
          <a:p>
            <a:pPr>
              <a:spcAft>
                <a:spcPts val="1200"/>
              </a:spcAft>
              <a:defRPr sz="2000">
                <a:solidFill>
                  <a:srgbClr val="0D1B3D"/>
                </a:solidFill>
              </a:defRPr>
            </a:pPr>
            <a:r>
              <a:t>Create a 5-7 point story timeline and complete the No Experience case scenario.</a:t>
            </a:r>
          </a:p>
          <a:p>
            <a:pPr>
              <a:spcAft>
                <a:spcPts val="1200"/>
              </a:spcAft>
              <a:defRPr sz="2000">
                <a:solidFill>
                  <a:srgbClr val="0D1B3D"/>
                </a:solidFill>
              </a:defRPr>
            </a:pPr>
            <a:r>
              <a:t>Debrief: What evidence did you create? How will this matter during an internship?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94360" y="6446520"/>
            <a:ext cx="109728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800">
                <a:solidFill>
                  <a:srgbClr val="6B7280"/>
                </a:solidFill>
              </a:defRPr>
            </a:pPr>
            <a:r>
              <a:t>Discover Purpose. Build Skills. Launch Your Future.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77240"/>
          </a:xfrm>
          <a:prstGeom prst="rect">
            <a:avLst/>
          </a:prstGeom>
          <a:solidFill>
            <a:srgbClr val="0D1B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164592"/>
            <a:ext cx="1097280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500" b="1">
                <a:solidFill>
                  <a:srgbClr val="FFFFFF"/>
                </a:solidFill>
              </a:defRPr>
            </a:pPr>
            <a:r>
              <a:t>Day 3: Everyone Brings Something Valuable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40080" y="1051560"/>
            <a:ext cx="3108960" cy="502920"/>
          </a:xfrm>
          <a:prstGeom prst="roundRect">
            <a:avLst/>
          </a:prstGeom>
          <a:solidFill>
            <a:srgbClr val="F2B70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b="1" sz="1300">
                <a:solidFill>
                  <a:srgbClr val="0D1B3D"/>
                </a:solidFill>
              </a:defRPr>
            </a:pPr>
            <a:r>
              <a:t>DAY 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1737360"/>
            <a:ext cx="1060704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000">
                <a:solidFill>
                  <a:srgbClr val="0D1B3D"/>
                </a:solidFill>
              </a:defRPr>
            </a:pPr>
            <a:r>
              <a:t>Identify strengths through evidence.</a:t>
            </a:r>
          </a:p>
          <a:p>
            <a:pPr>
              <a:spcAft>
                <a:spcPts val="1200"/>
              </a:spcAft>
              <a:defRPr sz="2000">
                <a:solidFill>
                  <a:srgbClr val="0D1B3D"/>
                </a:solidFill>
              </a:defRPr>
            </a:pPr>
            <a:r>
              <a:t>Strengths Detective stations and One-Minute Expert improv.</a:t>
            </a:r>
          </a:p>
          <a:p>
            <a:pPr>
              <a:spcAft>
                <a:spcPts val="1200"/>
              </a:spcAft>
              <a:defRPr sz="2000">
                <a:solidFill>
                  <a:srgbClr val="0D1B3D"/>
                </a:solidFill>
              </a:defRPr>
            </a:pPr>
            <a:r>
              <a:t>Debrief: What evidence did you create? How will this matter during an internship?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94360" y="6446520"/>
            <a:ext cx="109728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800">
                <a:solidFill>
                  <a:srgbClr val="6B7280"/>
                </a:solidFill>
              </a:defRPr>
            </a:pPr>
            <a:r>
              <a:t>Discover Purpose. Build Skills. Launch Your Future.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77240"/>
          </a:xfrm>
          <a:prstGeom prst="rect">
            <a:avLst/>
          </a:prstGeom>
          <a:solidFill>
            <a:srgbClr val="0D1B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164592"/>
            <a:ext cx="1097280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500" b="1">
                <a:solidFill>
                  <a:srgbClr val="FFFFFF"/>
                </a:solidFill>
              </a:defRPr>
            </a:pPr>
            <a:r>
              <a:t>Day 4: Every Choice Builds Something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40080" y="1051560"/>
            <a:ext cx="3108960" cy="502920"/>
          </a:xfrm>
          <a:prstGeom prst="roundRect">
            <a:avLst/>
          </a:prstGeom>
          <a:solidFill>
            <a:srgbClr val="F2B70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b="1" sz="1300">
                <a:solidFill>
                  <a:srgbClr val="0D1B3D"/>
                </a:solidFill>
              </a:defRPr>
            </a:pPr>
            <a:r>
              <a:t>DAY 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1737360"/>
            <a:ext cx="1060704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000">
                <a:solidFill>
                  <a:srgbClr val="0D1B3D"/>
                </a:solidFill>
              </a:defRPr>
            </a:pPr>
            <a:r>
              <a:t>Connect choices and reliability systems to trust.</a:t>
            </a:r>
          </a:p>
          <a:p>
            <a:pPr>
              <a:spcAft>
                <a:spcPts val="1200"/>
              </a:spcAft>
              <a:defRPr sz="2000">
                <a:solidFill>
                  <a:srgbClr val="0D1B3D"/>
                </a:solidFill>
              </a:defRPr>
            </a:pPr>
            <a:r>
              <a:t>Decision Impact Map, accountability role play, and personal reliability workflow.</a:t>
            </a:r>
          </a:p>
          <a:p>
            <a:pPr>
              <a:spcAft>
                <a:spcPts val="1200"/>
              </a:spcAft>
              <a:defRPr sz="2000">
                <a:solidFill>
                  <a:srgbClr val="0D1B3D"/>
                </a:solidFill>
              </a:defRPr>
            </a:pPr>
            <a:r>
              <a:t>Debrief: What evidence did you create? How will this matter during an internship?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94360" y="6446520"/>
            <a:ext cx="109728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800">
                <a:solidFill>
                  <a:srgbClr val="6B7280"/>
                </a:solidFill>
              </a:defRPr>
            </a:pPr>
            <a:r>
              <a:t>Discover Purpose. Build Skills. Launch Your Future.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77240"/>
          </a:xfrm>
          <a:prstGeom prst="rect">
            <a:avLst/>
          </a:prstGeom>
          <a:solidFill>
            <a:srgbClr val="0D1B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164592"/>
            <a:ext cx="1097280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500" b="1">
                <a:solidFill>
                  <a:srgbClr val="FFFFFF"/>
                </a:solidFill>
              </a:defRPr>
            </a:pPr>
            <a:r>
              <a:t>Day 5: Build My Future Ready™ Portfolio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40080" y="1051560"/>
            <a:ext cx="3108960" cy="502920"/>
          </a:xfrm>
          <a:prstGeom prst="roundRect">
            <a:avLst/>
          </a:prstGeom>
          <a:solidFill>
            <a:srgbClr val="F2B70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b="1" sz="1300">
                <a:solidFill>
                  <a:srgbClr val="0D1B3D"/>
                </a:solidFill>
              </a:defRPr>
            </a:pPr>
            <a:r>
              <a:t>DAY 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1737360"/>
            <a:ext cx="1060704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000">
                <a:solidFill>
                  <a:srgbClr val="0D1B3D"/>
                </a:solidFill>
              </a:defRPr>
            </a:pPr>
            <a:r>
              <a:t>Create the digital portfolio and first professional artifact.</a:t>
            </a:r>
          </a:p>
          <a:p>
            <a:pPr>
              <a:spcAft>
                <a:spcPts val="1200"/>
              </a:spcAft>
              <a:defRPr sz="2000">
                <a:solidFill>
                  <a:srgbClr val="0D1B3D"/>
                </a:solidFill>
              </a:defRPr>
            </a:pPr>
            <a:r>
              <a:t>Google Drive folder setup, file naming, Personal Foundation Profile, and two-minute partner presentation.</a:t>
            </a:r>
          </a:p>
          <a:p>
            <a:pPr>
              <a:spcAft>
                <a:spcPts val="1200"/>
              </a:spcAft>
              <a:defRPr sz="2000">
                <a:solidFill>
                  <a:srgbClr val="0D1B3D"/>
                </a:solidFill>
              </a:defRPr>
            </a:pPr>
            <a:r>
              <a:t>Debrief: What evidence did you create? How will this matter during an internship?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94360" y="6446520"/>
            <a:ext cx="109728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800">
                <a:solidFill>
                  <a:srgbClr val="6B7280"/>
                </a:solidFill>
              </a:defRPr>
            </a:pPr>
            <a:r>
              <a:t>Discover Purpose. Build Skills. Launch Your Future.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77240"/>
          </a:xfrm>
          <a:prstGeom prst="rect">
            <a:avLst/>
          </a:prstGeom>
          <a:solidFill>
            <a:srgbClr val="0D1B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164592"/>
            <a:ext cx="1097280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500" b="1">
                <a:solidFill>
                  <a:srgbClr val="FFFFFF"/>
                </a:solidFill>
              </a:defRPr>
            </a:pPr>
            <a:r>
              <a:t>Role Play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40080" y="1051560"/>
            <a:ext cx="3108960" cy="502920"/>
          </a:xfrm>
          <a:prstGeom prst="roundRect">
            <a:avLst/>
          </a:prstGeom>
          <a:solidFill>
            <a:srgbClr val="F2B70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b="1" sz="1300">
                <a:solidFill>
                  <a:srgbClr val="0D1B3D"/>
                </a:solidFill>
              </a:defRPr>
            </a:pPr>
            <a:r>
              <a:t>PRACTICE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1737360"/>
            <a:ext cx="1060704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000">
                <a:solidFill>
                  <a:srgbClr val="0D1B3D"/>
                </a:solidFill>
              </a:defRPr>
            </a:pPr>
            <a:r>
              <a:t>First-day internship introduction: intern, supervisor, observer.</a:t>
            </a:r>
          </a:p>
          <a:p>
            <a:pPr>
              <a:spcAft>
                <a:spcPts val="1200"/>
              </a:spcAft>
              <a:defRPr sz="2000">
                <a:solidFill>
                  <a:srgbClr val="0D1B3D"/>
                </a:solidFill>
              </a:defRPr>
            </a:pPr>
            <a:r>
              <a:t>Rotate: student/intern, professional/supervisor, observer.</a:t>
            </a:r>
          </a:p>
          <a:p>
            <a:pPr>
              <a:spcAft>
                <a:spcPts val="1200"/>
              </a:spcAft>
              <a:defRPr sz="2000">
                <a:solidFill>
                  <a:srgbClr val="0D1B3D"/>
                </a:solidFill>
              </a:defRPr>
            </a:pPr>
            <a:r>
              <a:t>Use feedback, then repeat the conversation.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94360" y="6446520"/>
            <a:ext cx="109728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800">
                <a:solidFill>
                  <a:srgbClr val="6B7280"/>
                </a:solidFill>
              </a:defRPr>
            </a:pPr>
            <a:r>
              <a:t>Discover Purpose. Build Skills. Launch Your Future.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77240"/>
          </a:xfrm>
          <a:prstGeom prst="rect">
            <a:avLst/>
          </a:prstGeom>
          <a:solidFill>
            <a:srgbClr val="0D1B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164592"/>
            <a:ext cx="1097280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500" b="1">
                <a:solidFill>
                  <a:srgbClr val="FFFFFF"/>
                </a:solidFill>
              </a:defRPr>
            </a:pPr>
            <a:r>
              <a:t>Improv and Adaptability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40080" y="1051560"/>
            <a:ext cx="3108960" cy="502920"/>
          </a:xfrm>
          <a:prstGeom prst="roundRect">
            <a:avLst/>
          </a:prstGeom>
          <a:solidFill>
            <a:srgbClr val="F2B70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b="1" sz="1300">
                <a:solidFill>
                  <a:srgbClr val="0D1B3D"/>
                </a:solidFill>
              </a:defRPr>
            </a:pPr>
            <a:r>
              <a:t>ADAPT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1737360"/>
            <a:ext cx="1060704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000">
                <a:solidFill>
                  <a:srgbClr val="0D1B3D"/>
                </a:solidFill>
              </a:defRPr>
            </a:pPr>
            <a:r>
              <a:t>Yes, And My Future: partners build possibilities without dismissing ideas.</a:t>
            </a:r>
          </a:p>
          <a:p>
            <a:pPr>
              <a:spcAft>
                <a:spcPts val="1200"/>
              </a:spcAft>
              <a:defRPr sz="2000">
                <a:solidFill>
                  <a:srgbClr val="0D1B3D"/>
                </a:solidFill>
              </a:defRPr>
            </a:pPr>
            <a:r>
              <a:t>Stay present. Listen. Build on what is happening.</a:t>
            </a:r>
          </a:p>
          <a:p>
            <a:pPr>
              <a:spcAft>
                <a:spcPts val="1200"/>
              </a:spcAft>
              <a:defRPr sz="2000">
                <a:solidFill>
                  <a:srgbClr val="0D1B3D"/>
                </a:solidFill>
              </a:defRPr>
            </a:pPr>
            <a:r>
              <a:t>Professional confidence grows through repetition.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94360" y="6446520"/>
            <a:ext cx="109728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800">
                <a:solidFill>
                  <a:srgbClr val="6B7280"/>
                </a:solidFill>
              </a:defRPr>
            </a:pPr>
            <a:r>
              <a:t>Discover Purpose. Build Skills. Launch Your Future.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77240"/>
          </a:xfrm>
          <a:prstGeom prst="rect">
            <a:avLst/>
          </a:prstGeom>
          <a:solidFill>
            <a:srgbClr val="0D1B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164592"/>
            <a:ext cx="1097280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500" b="1">
                <a:solidFill>
                  <a:srgbClr val="FFFFFF"/>
                </a:solidFill>
              </a:defRPr>
            </a:pPr>
            <a:r>
              <a:t>Case Scenario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40080" y="1051560"/>
            <a:ext cx="3108960" cy="502920"/>
          </a:xfrm>
          <a:prstGeom prst="roundRect">
            <a:avLst/>
          </a:prstGeom>
          <a:solidFill>
            <a:srgbClr val="F2B70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b="1" sz="1300">
                <a:solidFill>
                  <a:srgbClr val="0D1B3D"/>
                </a:solidFill>
              </a:defRPr>
            </a:pPr>
            <a:r>
              <a:t>SOLVE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1737360"/>
            <a:ext cx="1060704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000">
                <a:solidFill>
                  <a:srgbClr val="0D1B3D"/>
                </a:solidFill>
              </a:defRPr>
            </a:pPr>
            <a:r>
              <a:t>A student says they have no experience because they have never held a formal job. Teams uncover evidence from athletics, family responsibilities, service, projects, and setbacks.</a:t>
            </a:r>
          </a:p>
          <a:p>
            <a:pPr>
              <a:spcAft>
                <a:spcPts val="1200"/>
              </a:spcAft>
              <a:defRPr sz="2000">
                <a:solidFill>
                  <a:srgbClr val="0D1B3D"/>
                </a:solidFill>
              </a:defRPr>
            </a:pPr>
            <a:r>
              <a:t>Identify the problem, evidence, people affected, options, and recommendation.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94360" y="6446520"/>
            <a:ext cx="109728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800">
                <a:solidFill>
                  <a:srgbClr val="6B7280"/>
                </a:solidFill>
              </a:defRPr>
            </a:pPr>
            <a:r>
              <a:t>Discover Purpose. Build Skills. Launch Your Future.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77240"/>
          </a:xfrm>
          <a:prstGeom prst="rect">
            <a:avLst/>
          </a:prstGeom>
          <a:solidFill>
            <a:srgbClr val="0D1B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164592"/>
            <a:ext cx="1097280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500" b="1">
                <a:solidFill>
                  <a:srgbClr val="FFFFFF"/>
                </a:solidFill>
              </a:defRPr>
            </a:pPr>
            <a:r>
              <a:t>AI Activity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40080" y="1051560"/>
            <a:ext cx="3108960" cy="502920"/>
          </a:xfrm>
          <a:prstGeom prst="roundRect">
            <a:avLst/>
          </a:prstGeom>
          <a:solidFill>
            <a:srgbClr val="F2B70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b="1" sz="1300">
                <a:solidFill>
                  <a:srgbClr val="0D1B3D"/>
                </a:solidFill>
              </a:defRPr>
            </a:pPr>
            <a:r>
              <a:t>AI LITERACY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1737360"/>
            <a:ext cx="1060704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000">
                <a:solidFill>
                  <a:srgbClr val="0D1B3D"/>
                </a:solidFill>
              </a:defRPr>
            </a:pPr>
            <a:r>
              <a:t>Use AI only as a reflection coach. Students verify suggestions and rewrite in their own voice.</a:t>
            </a:r>
          </a:p>
          <a:p>
            <a:pPr>
              <a:spcAft>
                <a:spcPts val="1200"/>
              </a:spcAft>
              <a:defRPr sz="2000">
                <a:solidFill>
                  <a:srgbClr val="0D1B3D"/>
                </a:solidFill>
              </a:defRPr>
            </a:pPr>
            <a:r>
              <a:t>Protect privacy. Verify facts. Keep human judgment and authentic voice.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94360" y="6446520"/>
            <a:ext cx="109728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800">
                <a:solidFill>
                  <a:srgbClr val="6B7280"/>
                </a:solidFill>
              </a:defRPr>
            </a:pPr>
            <a:r>
              <a:t>Discover Purpose. Build Skills. Launch Your Future.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77240"/>
          </a:xfrm>
          <a:prstGeom prst="rect">
            <a:avLst/>
          </a:prstGeom>
          <a:solidFill>
            <a:srgbClr val="0D1B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164592"/>
            <a:ext cx="1097280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500" b="1">
                <a:solidFill>
                  <a:srgbClr val="FFFFFF"/>
                </a:solidFill>
              </a:defRPr>
            </a:pPr>
            <a:r>
              <a:t>LinkedIn / Professional Presence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40080" y="1051560"/>
            <a:ext cx="3108960" cy="502920"/>
          </a:xfrm>
          <a:prstGeom prst="roundRect">
            <a:avLst/>
          </a:prstGeom>
          <a:solidFill>
            <a:srgbClr val="F2B70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b="1" sz="1300">
                <a:solidFill>
                  <a:srgbClr val="0D1B3D"/>
                </a:solidFill>
              </a:defRPr>
            </a:pPr>
            <a:r>
              <a:t>BUILD YOUR STORY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1737360"/>
            <a:ext cx="1060704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000">
                <a:solidFill>
                  <a:srgbClr val="0D1B3D"/>
                </a:solidFill>
              </a:defRPr>
            </a:pPr>
            <a:r>
              <a:t>Professional-presence preview: photo standards, privacy, three headline keywords, and a first headline draft.</a:t>
            </a:r>
          </a:p>
          <a:p>
            <a:pPr>
              <a:spcAft>
                <a:spcPts val="1200"/>
              </a:spcAft>
              <a:defRPr sz="2000">
                <a:solidFill>
                  <a:srgbClr val="0D1B3D"/>
                </a:solidFill>
              </a:defRPr>
            </a:pPr>
            <a:r>
              <a:t>Your profile should be accurate, age-appropriate, and supported by evidence.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94360" y="6446520"/>
            <a:ext cx="109728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800">
                <a:solidFill>
                  <a:srgbClr val="6B7280"/>
                </a:solidFill>
              </a:defRPr>
            </a:pPr>
            <a:r>
              <a:t>Discover Purpose. Build Skills. Launch Your Future.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77240"/>
          </a:xfrm>
          <a:prstGeom prst="rect">
            <a:avLst/>
          </a:prstGeom>
          <a:solidFill>
            <a:srgbClr val="0D1B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164592"/>
            <a:ext cx="1097280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500" b="1">
                <a:solidFill>
                  <a:srgbClr val="FFFFFF"/>
                </a:solidFill>
              </a:defRPr>
            </a:pPr>
            <a:r>
              <a:t>CRM / Workplace Systems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40080" y="1051560"/>
            <a:ext cx="3108960" cy="502920"/>
          </a:xfrm>
          <a:prstGeom prst="roundRect">
            <a:avLst/>
          </a:prstGeom>
          <a:solidFill>
            <a:srgbClr val="F2B70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b="1" sz="1300">
                <a:solidFill>
                  <a:srgbClr val="0D1B3D"/>
                </a:solidFill>
              </a:defRPr>
            </a:pPr>
            <a:r>
              <a:t>HOW WORK WORKS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1737360"/>
            <a:ext cx="1060704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000">
                <a:solidFill>
                  <a:srgbClr val="0D1B3D"/>
                </a:solidFill>
              </a:defRPr>
            </a:pPr>
            <a:r>
              <a:t>Workplace systems preview: why teams use calendars, task lists, notes, and follow-up systems.</a:t>
            </a:r>
          </a:p>
          <a:p>
            <a:pPr>
              <a:spcAft>
                <a:spcPts val="1200"/>
              </a:spcAft>
              <a:defRPr sz="2000">
                <a:solidFill>
                  <a:srgbClr val="0D1B3D"/>
                </a:solidFill>
              </a:defRPr>
            </a:pPr>
            <a:r>
              <a:t>Use fictional or school-approved information only.</a:t>
            </a:r>
          </a:p>
          <a:p>
            <a:pPr>
              <a:spcAft>
                <a:spcPts val="1200"/>
              </a:spcAft>
              <a:defRPr sz="2000">
                <a:solidFill>
                  <a:srgbClr val="0D1B3D"/>
                </a:solidFill>
              </a:defRPr>
            </a:pPr>
            <a:r>
              <a:t>Track the relationship, action, owner, deadline, and follow-up.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94360" y="6446520"/>
            <a:ext cx="109728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800">
                <a:solidFill>
                  <a:srgbClr val="6B7280"/>
                </a:solidFill>
              </a:defRPr>
            </a:pPr>
            <a:r>
              <a:t>Discover Purpose. Build Skills. Launch Your Future.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77240"/>
          </a:xfrm>
          <a:prstGeom prst="rect">
            <a:avLst/>
          </a:prstGeom>
          <a:solidFill>
            <a:srgbClr val="0D1B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164592"/>
            <a:ext cx="1097280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500" b="1">
                <a:solidFill>
                  <a:srgbClr val="FFFFFF"/>
                </a:solidFill>
              </a:defRPr>
            </a:pPr>
            <a:r>
              <a:t>Portfolio and Badge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40080" y="1051560"/>
            <a:ext cx="3108960" cy="502920"/>
          </a:xfrm>
          <a:prstGeom prst="roundRect">
            <a:avLst/>
          </a:prstGeom>
          <a:solidFill>
            <a:srgbClr val="F2B70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b="1" sz="1300">
                <a:solidFill>
                  <a:srgbClr val="0D1B3D"/>
                </a:solidFill>
              </a:defRPr>
            </a:pPr>
            <a:r>
              <a:t>EVIDENCE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1737360"/>
            <a:ext cx="1060704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000">
                <a:solidFill>
                  <a:srgbClr val="0D1B3D"/>
                </a:solidFill>
              </a:defRPr>
            </a:pPr>
            <a:r>
              <a:t>Portfolio artifact: Personal Foundation Profile and My Story Timeline</a:t>
            </a:r>
          </a:p>
          <a:p>
            <a:pPr>
              <a:spcAft>
                <a:spcPts val="1200"/>
              </a:spcAft>
              <a:defRPr sz="2000">
                <a:solidFill>
                  <a:srgbClr val="0D1B3D"/>
                </a:solidFill>
              </a:defRPr>
            </a:pPr>
            <a:r>
              <a:t>Badge: Future Ready™ Journey Starter</a:t>
            </a:r>
          </a:p>
          <a:p>
            <a:pPr>
              <a:spcAft>
                <a:spcPts val="1200"/>
              </a:spcAft>
              <a:defRPr sz="2000">
                <a:solidFill>
                  <a:srgbClr val="0D1B3D"/>
                </a:solidFill>
              </a:defRPr>
            </a:pPr>
            <a:r>
              <a:t>Save evidence using the approved naming convention.</a:t>
            </a:r>
          </a:p>
          <a:p>
            <a:pPr>
              <a:spcAft>
                <a:spcPts val="1200"/>
              </a:spcAft>
              <a:defRPr sz="2000">
                <a:solidFill>
                  <a:srgbClr val="0D1B3D"/>
                </a:solidFill>
              </a:defRPr>
            </a:pPr>
            <a:r>
              <a:t>Explain what you did, what you learned, and how you will use it.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94360" y="6446520"/>
            <a:ext cx="109728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800">
                <a:solidFill>
                  <a:srgbClr val="6B7280"/>
                </a:solidFill>
              </a:defRPr>
            </a:pPr>
            <a:r>
              <a:t>Discover Purpose. Build Skills. Launch Your Future.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77240"/>
          </a:xfrm>
          <a:prstGeom prst="rect">
            <a:avLst/>
          </a:prstGeom>
          <a:solidFill>
            <a:srgbClr val="0D1B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164592"/>
            <a:ext cx="1097280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500" b="1">
                <a:solidFill>
                  <a:srgbClr val="FFFFFF"/>
                </a:solidFill>
              </a:defRPr>
            </a:pPr>
            <a:r>
              <a:t>Mission Card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40080" y="1051560"/>
            <a:ext cx="3108960" cy="502920"/>
          </a:xfrm>
          <a:prstGeom prst="roundRect">
            <a:avLst/>
          </a:prstGeom>
          <a:solidFill>
            <a:srgbClr val="F2B70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b="1" sz="1300">
                <a:solidFill>
                  <a:srgbClr val="0D1B3D"/>
                </a:solidFill>
              </a:defRPr>
            </a:pPr>
            <a:r>
              <a:t>TAKE ACTION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1737360"/>
            <a:ext cx="1060704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000">
                <a:solidFill>
                  <a:srgbClr val="0D1B3D"/>
                </a:solidFill>
              </a:defRPr>
            </a:pPr>
            <a:r>
              <a:t>Ask a trusted adult: What is one strength you see in me, and when have you seen me use it?</a:t>
            </a:r>
          </a:p>
          <a:p>
            <a:pPr>
              <a:spcAft>
                <a:spcPts val="1200"/>
              </a:spcAft>
              <a:defRPr sz="2000">
                <a:solidFill>
                  <a:srgbClr val="0D1B3D"/>
                </a:solidFill>
              </a:defRPr>
            </a:pPr>
            <a:r>
              <a:t>Bring your evidence to the next session.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94360" y="6446520"/>
            <a:ext cx="109728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800">
                <a:solidFill>
                  <a:srgbClr val="6B7280"/>
                </a:solidFill>
              </a:defRPr>
            </a:pPr>
            <a:r>
              <a:t>Discover Purpose. Build Skills. Launch Your Future.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